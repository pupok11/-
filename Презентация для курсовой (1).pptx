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12192000" cy="6858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000000"/>
          </p15:clr>
        </p15:guide>
        <p15:guide id="2" orient="horz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-10687" y="-23594"/>
            <a:ext cx="12203906" cy="858981"/>
          </a:xfrm>
          <a:prstGeom prst="rect">
            <a:avLst/>
          </a:prstGeom>
          <a:solidFill>
            <a:srgbClr val="5BBA37"/>
          </a:solidFill>
          <a:ln cap="flat" cmpd="sng" w="12700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3"/>
          <p:cNvCxnSpPr>
            <a:stCxn id="86" idx="3"/>
          </p:cNvCxnSpPr>
          <p:nvPr/>
        </p:nvCxnSpPr>
        <p:spPr>
          <a:xfrm flipH="1" rot="10800000">
            <a:off x="6984584" y="6287884"/>
            <a:ext cx="5202000" cy="21900"/>
          </a:xfrm>
          <a:prstGeom prst="straightConnector1">
            <a:avLst/>
          </a:prstGeom>
          <a:noFill/>
          <a:ln cap="flat" cmpd="sng" w="9525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7" name="Google Shape;87;p13"/>
          <p:cNvSpPr txBox="1"/>
          <p:nvPr/>
        </p:nvSpPr>
        <p:spPr>
          <a:xfrm>
            <a:off x="1981199" y="0"/>
            <a:ext cx="846974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Санкт-Петербургское государственной бюджетное профессиональное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образовательное учреждение «Охтинский колледж»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(СПб ГБ ПОУ «Охтинский колледж»)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161305" y="2421522"/>
            <a:ext cx="786938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 МДК 08.01 Проектирование и разработка интерфейсов пользователя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Специальность: 09.02.07 Информационные системы и программирование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996967" y="1725972"/>
            <a:ext cx="443820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Курсовая работа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670479" y="2700177"/>
            <a:ext cx="8851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тему: «</a:t>
            </a:r>
            <a:r>
              <a:rPr lang="ru-RU" sz="1100">
                <a:solidFill>
                  <a:schemeClr val="dk1"/>
                </a:solidFill>
              </a:rPr>
              <a:t> </a:t>
            </a:r>
            <a:r>
              <a:rPr b="1" lang="ru-RU" sz="1600">
                <a:solidFill>
                  <a:schemeClr val="dk1"/>
                </a:solidFill>
              </a:rPr>
              <a:t>Проектирование и разработка интерфейса сайта компании по производству бытовой техники</a:t>
            </a:r>
            <a:r>
              <a:rPr b="0" i="0" lang="ru-RU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»»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973799" y="4320109"/>
            <a:ext cx="36267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 студент 3 курса группы 392: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Андреев Артем Андреевич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Руководитель: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Спиридонов Денис Сергеевич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485184" y="6182884"/>
            <a:ext cx="1499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Санкт-Петербург, 202</a:t>
            </a:r>
            <a:r>
              <a:rPr lang="ru-RU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13"/>
          <p:cNvCxnSpPr>
            <a:endCxn id="86" idx="1"/>
          </p:cNvCxnSpPr>
          <p:nvPr/>
        </p:nvCxnSpPr>
        <p:spPr>
          <a:xfrm>
            <a:off x="32384" y="6287884"/>
            <a:ext cx="5452800" cy="21900"/>
          </a:xfrm>
          <a:prstGeom prst="straightConnector1">
            <a:avLst/>
          </a:prstGeom>
          <a:noFill/>
          <a:ln cap="flat" cmpd="sng" w="9525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93" name="Google Shape;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974" y="-83125"/>
            <a:ext cx="694744" cy="92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50">
        <p:pus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-66674" y="-44785"/>
            <a:ext cx="2270693" cy="858982"/>
          </a:xfrm>
          <a:prstGeom prst="rect">
            <a:avLst/>
          </a:prstGeom>
          <a:solidFill>
            <a:srgbClr val="5BBA37"/>
          </a:solidFill>
          <a:ln cap="flat" cmpd="sng" w="12700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304800" y="411361"/>
            <a:ext cx="4084187" cy="858982"/>
          </a:xfrm>
          <a:prstGeom prst="rect">
            <a:avLst/>
          </a:prstGeom>
          <a:solidFill>
            <a:srgbClr val="5BBA37"/>
          </a:solidFill>
          <a:ln cap="flat" cmpd="sng" w="12700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14"/>
          <p:cNvCxnSpPr/>
          <p:nvPr/>
        </p:nvCxnSpPr>
        <p:spPr>
          <a:xfrm>
            <a:off x="11115675" y="-352425"/>
            <a:ext cx="0" cy="7410450"/>
          </a:xfrm>
          <a:prstGeom prst="straightConnector1">
            <a:avLst/>
          </a:prstGeom>
          <a:noFill/>
          <a:ln cap="flat" cmpd="sng" w="9525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1" name="Google Shape;101;p14"/>
          <p:cNvSpPr txBox="1"/>
          <p:nvPr/>
        </p:nvSpPr>
        <p:spPr>
          <a:xfrm>
            <a:off x="738792" y="460254"/>
            <a:ext cx="321620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Актуальность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6149" y="2476499"/>
            <a:ext cx="4867274" cy="486727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-39262" y="6484619"/>
            <a:ext cx="12293100" cy="369300"/>
          </a:xfrm>
          <a:prstGeom prst="rect">
            <a:avLst/>
          </a:prstGeom>
          <a:solidFill>
            <a:srgbClr val="5BBA37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Тема: «</a:t>
            </a:r>
            <a:r>
              <a:rPr b="1" lang="ru-RU" sz="1600">
                <a:solidFill>
                  <a:schemeClr val="dk1"/>
                </a:solidFill>
              </a:rPr>
              <a:t>Проектирование и разработка интерфейса сайта компании по производству бытовой техники</a:t>
            </a: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59975" y="1526350"/>
            <a:ext cx="8331300" cy="38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890"/>
              <a:buFont typeface="Arial"/>
              <a:buNone/>
            </a:pPr>
            <a:r>
              <a:rPr b="1" lang="ru-RU" sz="256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Актуальность темы</a:t>
            </a:r>
            <a:endParaRPr b="1" sz="256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890"/>
              <a:buFont typeface="Arial"/>
              <a:buNone/>
            </a:pPr>
            <a:r>
              <a:rPr b="1" lang="ru-RU" sz="256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Рынок бытовой техники в России активно растёт: в 2025 году его объём превысил 1,5 трлн рублей, доля онлайн-продаж — более 30%. Компании-производители обязаны иметь современный сайт, иначе теряют клиентов.</a:t>
            </a:r>
            <a:endParaRPr b="1" sz="256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890"/>
              <a:buFont typeface="Arial"/>
              <a:buNone/>
            </a:pPr>
            <a:r>
              <a:t/>
            </a:r>
            <a:endParaRPr b="1" sz="256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890"/>
              <a:buFont typeface="Arial"/>
              <a:buNone/>
            </a:pPr>
            <a:r>
              <a:rPr b="1" lang="ru-RU" sz="256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Однако многие российские производители до сих пор используют устаревшие платформы, что снижает их конкурентоспособность. Поэтому разработка современного интерфейса сайта для компании «ТехноПрестиж» является актуальной задачей.</a:t>
            </a:r>
            <a:endParaRPr b="1" sz="256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50">
        <p:fade thruBlk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1858" y="3697931"/>
            <a:ext cx="4410075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/>
          <p:nvPr/>
        </p:nvSpPr>
        <p:spPr>
          <a:xfrm>
            <a:off x="-66674" y="-44785"/>
            <a:ext cx="3533773" cy="858982"/>
          </a:xfrm>
          <a:prstGeom prst="rect">
            <a:avLst/>
          </a:prstGeom>
          <a:solidFill>
            <a:srgbClr val="5BBA37"/>
          </a:solidFill>
          <a:ln cap="flat" cmpd="sng" w="12700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04799" y="411360"/>
            <a:ext cx="6959230" cy="858981"/>
          </a:xfrm>
          <a:prstGeom prst="rect">
            <a:avLst/>
          </a:prstGeom>
          <a:solidFill>
            <a:srgbClr val="5BBA37"/>
          </a:solidFill>
          <a:ln cap="flat" cmpd="sng" w="12700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15"/>
          <p:cNvCxnSpPr/>
          <p:nvPr/>
        </p:nvCxnSpPr>
        <p:spPr>
          <a:xfrm>
            <a:off x="11115675" y="-352425"/>
            <a:ext cx="0" cy="7410450"/>
          </a:xfrm>
          <a:prstGeom prst="straightConnector1">
            <a:avLst/>
          </a:prstGeom>
          <a:noFill/>
          <a:ln cap="flat" cmpd="sng" w="9525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3" name="Google Shape;113;p15"/>
          <p:cNvSpPr txBox="1"/>
          <p:nvPr/>
        </p:nvSpPr>
        <p:spPr>
          <a:xfrm>
            <a:off x="528457" y="460253"/>
            <a:ext cx="6569605" cy="701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Цель, объект, предмет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076323" y="2298350"/>
            <a:ext cx="967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Цель:</a:t>
            </a:r>
            <a:r>
              <a:rPr b="1" i="0" lang="ru-RU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ru-RU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создание удобного интерфейса сайта для компании «ТехноПрестиж»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076326" y="3236275"/>
            <a:ext cx="94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Объект:</a:t>
            </a:r>
            <a:r>
              <a:rPr b="0" i="0" lang="ru-RU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компания «ТехноПрестиж» и её деятельность.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076326" y="4188775"/>
            <a:ext cx="882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Предмет:</a:t>
            </a:r>
            <a:r>
              <a:rPr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технологии разработки web-сайтов.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-39261" y="6484798"/>
            <a:ext cx="12293400" cy="369300"/>
          </a:xfrm>
          <a:prstGeom prst="rect">
            <a:avLst/>
          </a:prstGeom>
          <a:solidFill>
            <a:srgbClr val="5BBA37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Тема: «</a:t>
            </a:r>
            <a:r>
              <a:rPr b="1" lang="ru-RU" sz="1600">
                <a:solidFill>
                  <a:schemeClr val="dk1"/>
                </a:solidFill>
              </a:rPr>
              <a:t>Проектирование и разработка интерфейса сайта компании по производству бытовой техники</a:t>
            </a: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75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/>
          <p:nvPr/>
        </p:nvSpPr>
        <p:spPr>
          <a:xfrm>
            <a:off x="-66674" y="-44785"/>
            <a:ext cx="1669369" cy="858982"/>
          </a:xfrm>
          <a:prstGeom prst="rect">
            <a:avLst/>
          </a:prstGeom>
          <a:solidFill>
            <a:srgbClr val="5BBA37"/>
          </a:solidFill>
          <a:ln cap="flat" cmpd="sng" w="12700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304801" y="411361"/>
            <a:ext cx="2562221" cy="858982"/>
          </a:xfrm>
          <a:prstGeom prst="rect">
            <a:avLst/>
          </a:prstGeom>
          <a:solidFill>
            <a:srgbClr val="5BBA37"/>
          </a:solidFill>
          <a:ln cap="flat" cmpd="sng" w="12700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16"/>
          <p:cNvCxnSpPr/>
          <p:nvPr/>
        </p:nvCxnSpPr>
        <p:spPr>
          <a:xfrm>
            <a:off x="11115675" y="-352425"/>
            <a:ext cx="0" cy="7410450"/>
          </a:xfrm>
          <a:prstGeom prst="straightConnector1">
            <a:avLst/>
          </a:prstGeom>
          <a:noFill/>
          <a:ln cap="flat" cmpd="sng" w="9525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5" name="Google Shape;125;p16"/>
          <p:cNvSpPr txBox="1"/>
          <p:nvPr/>
        </p:nvSpPr>
        <p:spPr>
          <a:xfrm>
            <a:off x="751227" y="460254"/>
            <a:ext cx="166936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1469967" y="2164225"/>
            <a:ext cx="63525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Анализ предметной области.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Описание инструментов разработки.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Проектирование дизайна интерфейса.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веб-сайта.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812" y="2845593"/>
            <a:ext cx="4876799" cy="487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-39261" y="6484798"/>
            <a:ext cx="12293400" cy="369300"/>
          </a:xfrm>
          <a:prstGeom prst="rect">
            <a:avLst/>
          </a:prstGeom>
          <a:solidFill>
            <a:srgbClr val="5BBA37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Тема: «</a:t>
            </a:r>
            <a:r>
              <a:rPr b="1" lang="ru-RU" sz="1600">
                <a:solidFill>
                  <a:schemeClr val="dk1"/>
                </a:solidFill>
              </a:rPr>
              <a:t>Проектирование и разработка интерфейса сайта компании по производству бытовой техники</a:t>
            </a: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75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/>
          <p:nvPr/>
        </p:nvSpPr>
        <p:spPr>
          <a:xfrm>
            <a:off x="-66674" y="-44785"/>
            <a:ext cx="1669369" cy="858982"/>
          </a:xfrm>
          <a:prstGeom prst="rect">
            <a:avLst/>
          </a:prstGeom>
          <a:solidFill>
            <a:srgbClr val="5BBA37"/>
          </a:solidFill>
          <a:ln cap="flat" cmpd="sng" w="12700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304800" y="411360"/>
            <a:ext cx="9202123" cy="858981"/>
          </a:xfrm>
          <a:prstGeom prst="rect">
            <a:avLst/>
          </a:prstGeom>
          <a:solidFill>
            <a:srgbClr val="5BBA37"/>
          </a:solidFill>
          <a:ln cap="flat" cmpd="sng" w="12700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304800" y="490151"/>
            <a:ext cx="9152937" cy="701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ОПИСАНИЕ ПРЕДМЕТНОЙ ОБЛАСТИ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-39261" y="6484798"/>
            <a:ext cx="12293400" cy="369300"/>
          </a:xfrm>
          <a:prstGeom prst="rect">
            <a:avLst/>
          </a:prstGeom>
          <a:solidFill>
            <a:srgbClr val="5BBA37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Тема: «</a:t>
            </a:r>
            <a:r>
              <a:rPr b="1" lang="ru-RU" sz="1600">
                <a:solidFill>
                  <a:schemeClr val="dk1"/>
                </a:solidFill>
              </a:rPr>
              <a:t>Проектирование и разработка интерфейса сайта компании по производству бытовой техники</a:t>
            </a: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381600" y="1191550"/>
            <a:ext cx="10981200" cy="57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Компания «ТехноПрестиж» — производитель бытовой техники с 2012 года.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Более 60 видов техники: холодильники, стиральные машины, микроволновки, пылесосы, блендеры, мультиварки.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Собственный завод в Ленинградской области с 2021 года.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Собственного сайта нет — компания теряет клиентов.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Целевая аудитория: семьи, молодёжь, пожилые, корпоративные клиенты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50">
        <p:fade thruBlk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-66673" y="-44784"/>
            <a:ext cx="1669368" cy="858981"/>
          </a:xfrm>
          <a:prstGeom prst="rect">
            <a:avLst/>
          </a:prstGeom>
          <a:solidFill>
            <a:srgbClr val="5BBA37"/>
          </a:solidFill>
          <a:ln cap="flat" cmpd="sng" w="12700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304799" y="411359"/>
            <a:ext cx="9202123" cy="1245989"/>
          </a:xfrm>
          <a:prstGeom prst="rect">
            <a:avLst/>
          </a:prstGeom>
          <a:solidFill>
            <a:srgbClr val="5BBA37"/>
          </a:solidFill>
          <a:ln cap="flat" cmpd="sng" w="12700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304799" y="490150"/>
            <a:ext cx="8237923" cy="1189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ИНСТРУМЕНТАЛЬНЫЕ СРЕДСТВА 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РАЗРАБОТКИ</a:t>
            </a:r>
            <a:endParaRPr b="1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-39260" y="6484797"/>
            <a:ext cx="12293400" cy="369300"/>
          </a:xfrm>
          <a:prstGeom prst="rect">
            <a:avLst/>
          </a:prstGeom>
          <a:solidFill>
            <a:srgbClr val="5BBA37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Тема: «</a:t>
            </a:r>
            <a:r>
              <a:rPr b="1" lang="ru-RU" sz="1600">
                <a:solidFill>
                  <a:schemeClr val="dk1"/>
                </a:solidFill>
              </a:rPr>
              <a:t>Проектирование и разработка интерфейса сайта компании по производству бытовой техники</a:t>
            </a: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.»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-161575" y="1657350"/>
            <a:ext cx="11415900" cy="51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Figma — дизайн макетов интерфейса.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HTML5 — структура страниц.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CSS3 — оформление и адаптивность.</a:t>
            </a:r>
            <a:endParaRPr sz="17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JavaScript ES6+ — интерактивность.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Three.js — 3D-визуализация товаров.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Visual Studio Code — среда разработки.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Microsoft Word и PowerPoint — документация и презентац</a:t>
            </a:r>
            <a:r>
              <a:rPr lang="ru-RU" sz="17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ия</a:t>
            </a:r>
            <a:r>
              <a:rPr lang="ru-RU" sz="12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50">
        <p:fade thruBlk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-66674" y="-44785"/>
            <a:ext cx="2632074" cy="858982"/>
          </a:xfrm>
          <a:prstGeom prst="rect">
            <a:avLst/>
          </a:prstGeom>
          <a:solidFill>
            <a:srgbClr val="5BBA37"/>
          </a:solidFill>
          <a:ln cap="flat" cmpd="sng" w="12700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304799" y="411359"/>
            <a:ext cx="5854162" cy="858980"/>
          </a:xfrm>
          <a:prstGeom prst="rect">
            <a:avLst/>
          </a:prstGeom>
          <a:solidFill>
            <a:srgbClr val="5BBA37"/>
          </a:solidFill>
          <a:ln cap="flat" cmpd="sng" w="12700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249408" y="460252"/>
            <a:ext cx="5957359" cy="701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Проектирование веб-сайта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-39260" y="6484977"/>
            <a:ext cx="12293700" cy="369300"/>
          </a:xfrm>
          <a:prstGeom prst="rect">
            <a:avLst/>
          </a:prstGeom>
          <a:solidFill>
            <a:srgbClr val="5BBA37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Тема: «</a:t>
            </a:r>
            <a:r>
              <a:rPr b="1" lang="ru-RU" sz="1600">
                <a:solidFill>
                  <a:schemeClr val="dk1"/>
                </a:solidFill>
              </a:rPr>
              <a:t>Проектирование и разработка интерфейса сайта компании по производству бытовой техники</a:t>
            </a: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1458299" y="1781174"/>
            <a:ext cx="3114675" cy="4572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МАКЕТ Ч-Б ГЛАВНОЙ СТРАНИЦЫ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6763725" y="1781174"/>
            <a:ext cx="3114675" cy="4572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Дизайн макет главной страницы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9" title="ф-black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9150" y="1405950"/>
            <a:ext cx="3508500" cy="494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 title="ф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6225" y="1270350"/>
            <a:ext cx="3582175" cy="50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50">
        <p:fade thruBlk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/>
          <p:nvPr/>
        </p:nvSpPr>
        <p:spPr>
          <a:xfrm>
            <a:off x="-66673" y="-44784"/>
            <a:ext cx="2632073" cy="858981"/>
          </a:xfrm>
          <a:prstGeom prst="rect">
            <a:avLst/>
          </a:prstGeom>
          <a:solidFill>
            <a:srgbClr val="5BBA37"/>
          </a:solidFill>
          <a:ln cap="flat" cmpd="sng" w="12700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304799" y="411359"/>
            <a:ext cx="5668349" cy="858981"/>
          </a:xfrm>
          <a:prstGeom prst="rect">
            <a:avLst/>
          </a:prstGeom>
          <a:solidFill>
            <a:srgbClr val="5BBA37"/>
          </a:solidFill>
          <a:ln cap="flat" cmpd="sng" w="12700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32261" y="460252"/>
            <a:ext cx="5497480" cy="701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Демонстрация веб-сайта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-39260" y="6484797"/>
            <a:ext cx="12293400" cy="369300"/>
          </a:xfrm>
          <a:prstGeom prst="rect">
            <a:avLst/>
          </a:prstGeom>
          <a:solidFill>
            <a:srgbClr val="5BBA37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Тема: «</a:t>
            </a:r>
            <a:r>
              <a:rPr b="1" lang="ru-RU" sz="1600">
                <a:solidFill>
                  <a:schemeClr val="dk1"/>
                </a:solidFill>
              </a:rPr>
              <a:t>Проектирование и разработка интерфейса сайта компании по производству бытовой техники</a:t>
            </a:r>
            <a:r>
              <a:rPr b="0" i="0" lang="ru-RU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7" name="Google Shape;167;p20" title="Снимок экрана 2026-09-16 0053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75" y="1930750"/>
            <a:ext cx="5951851" cy="343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 title="Снимок экрана 2026-09-16 0054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2425" y="1930750"/>
            <a:ext cx="6145325" cy="337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50">
        <p:fade thruBlk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/>
          <p:nvPr/>
        </p:nvSpPr>
        <p:spPr>
          <a:xfrm>
            <a:off x="-10686" y="-23593"/>
            <a:ext cx="12203906" cy="858981"/>
          </a:xfrm>
          <a:prstGeom prst="rect">
            <a:avLst/>
          </a:prstGeom>
          <a:solidFill>
            <a:srgbClr val="5BBA37"/>
          </a:solidFill>
          <a:ln cap="flat" cmpd="sng" w="12700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21"/>
          <p:cNvCxnSpPr>
            <a:stCxn id="175" idx="3"/>
          </p:cNvCxnSpPr>
          <p:nvPr/>
        </p:nvCxnSpPr>
        <p:spPr>
          <a:xfrm flipH="1" rot="10800000">
            <a:off x="6991316" y="6286534"/>
            <a:ext cx="5202000" cy="21900"/>
          </a:xfrm>
          <a:prstGeom prst="straightConnector1">
            <a:avLst/>
          </a:prstGeom>
          <a:noFill/>
          <a:ln cap="flat" cmpd="sng" w="9525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6" name="Google Shape;176;p21"/>
          <p:cNvSpPr txBox="1"/>
          <p:nvPr/>
        </p:nvSpPr>
        <p:spPr>
          <a:xfrm>
            <a:off x="1981198" y="0"/>
            <a:ext cx="8469744" cy="7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Санкт-Петербургское государственной бюджетное профессиональное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образовательное учреждение «Охтинский колледж»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(СПб ГБ ПОУ «Охтинский колледж»)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2161305" y="2421522"/>
            <a:ext cx="7890621" cy="1798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 МДК 08.01 Проектирование и разработка интерфейсов пользователя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Специальность: 09.02.07 Информационные системы и программирование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Квалификация: Разработчик веб и мультимедийных приложений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3996966" y="1725971"/>
            <a:ext cx="4438202" cy="76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Курсовая работа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1670479" y="2700177"/>
            <a:ext cx="8851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тему: «</a:t>
            </a:r>
            <a:r>
              <a:rPr b="1" lang="ru-RU" sz="1600">
                <a:solidFill>
                  <a:schemeClr val="dk1"/>
                </a:solidFill>
              </a:rPr>
              <a:t>Проектирование и разработка интерфейса сайта компании по производству бытовой техники</a:t>
            </a:r>
            <a:r>
              <a:rPr b="0" i="0" lang="ru-RU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7973799" y="4320109"/>
            <a:ext cx="36267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 студент 3 курса группы 392: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Андреев Артем Андреевич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Руководитель: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Спиридонов Денис Сергеевич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5477761" y="6181476"/>
            <a:ext cx="1513555" cy="253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Санкт-Петербург, 202</a:t>
            </a:r>
            <a:r>
              <a:rPr lang="ru-RU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21"/>
          <p:cNvCxnSpPr>
            <a:endCxn id="175" idx="1"/>
          </p:cNvCxnSpPr>
          <p:nvPr/>
        </p:nvCxnSpPr>
        <p:spPr>
          <a:xfrm>
            <a:off x="24961" y="6286534"/>
            <a:ext cx="5452800" cy="21900"/>
          </a:xfrm>
          <a:prstGeom prst="straightConnector1">
            <a:avLst/>
          </a:prstGeom>
          <a:noFill/>
          <a:ln cap="flat" cmpd="sng" w="9525">
            <a:solidFill>
              <a:srgbClr val="5BBA37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82" name="Google Shape;1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973" y="-83125"/>
            <a:ext cx="694743" cy="92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50">
        <p:pu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